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76" r:id="rId3"/>
    <p:sldId id="277" r:id="rId4"/>
    <p:sldId id="278" r:id="rId5"/>
    <p:sldId id="303" r:id="rId6"/>
    <p:sldId id="306" r:id="rId7"/>
    <p:sldId id="291" r:id="rId8"/>
    <p:sldId id="311" r:id="rId9"/>
    <p:sldId id="301" r:id="rId10"/>
    <p:sldId id="292" r:id="rId11"/>
    <p:sldId id="293" r:id="rId12"/>
    <p:sldId id="294" r:id="rId13"/>
    <p:sldId id="302" r:id="rId14"/>
    <p:sldId id="290" r:id="rId15"/>
    <p:sldId id="305" r:id="rId16"/>
    <p:sldId id="304" r:id="rId17"/>
    <p:sldId id="295" r:id="rId18"/>
    <p:sldId id="257" r:id="rId19"/>
    <p:sldId id="273" r:id="rId20"/>
    <p:sldId id="274" r:id="rId21"/>
    <p:sldId id="258" r:id="rId22"/>
    <p:sldId id="259" r:id="rId23"/>
    <p:sldId id="307" r:id="rId24"/>
    <p:sldId id="260" r:id="rId25"/>
    <p:sldId id="310" r:id="rId26"/>
    <p:sldId id="309" r:id="rId27"/>
    <p:sldId id="261" r:id="rId28"/>
    <p:sldId id="262" r:id="rId29"/>
    <p:sldId id="263" r:id="rId30"/>
    <p:sldId id="264" r:id="rId31"/>
    <p:sldId id="265" r:id="rId32"/>
    <p:sldId id="266" r:id="rId33"/>
    <p:sldId id="267" r:id="rId34"/>
    <p:sldId id="268" r:id="rId35"/>
    <p:sldId id="269" r:id="rId36"/>
    <p:sldId id="270" r:id="rId37"/>
    <p:sldId id="271" r:id="rId38"/>
    <p:sldId id="272" r:id="rId3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AFF"/>
    <a:srgbClr val="F3EE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3469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CD11D-59F1-2A2D-731E-66B8D8C0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E46F5-1F22-ECF0-3F75-C081E887B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E0B7B-3FCB-95EF-17E5-0C60F2BEF0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2263-677D-F299-2B81-2EAE39BE23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5360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197F9-DDB9-8376-7961-A9EE12D36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E81FC-46C5-2E1E-965E-893DE4C330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515DF3-3D56-8589-2E85-D559867C6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7A1B6B-F66C-EF2B-5B09-383C9CA066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5600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29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eplit.com/@guscavanaugh/basicloanadvisoragent" TargetMode="External"/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cav66/basic_loan_advisor_agent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plit.com/@guscavanaugh/basicloanadvisoragent" TargetMode="External"/><Relationship Id="rId2" Type="http://schemas.openxmlformats.org/officeDocument/2006/relationships/hyperlink" Target="https://aistudio.google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cav66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8229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a Loan</a:t>
            </a:r>
            <a:endParaRPr lang="en-US" sz="42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Advisor Agent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Agent with Python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 Cavanaugh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/>
          <p:cNvSpPr txBox="1"/>
          <p:nvPr/>
        </p:nvSpPr>
        <p:spPr>
          <a:xfrm>
            <a:off x="1691640" y="274321"/>
            <a:ext cx="3538148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  <a:latin typeface="Segoe UI"/>
              </a:defRPr>
            </a:pPr>
            <a:r>
              <a:rPr sz="2700" dirty="0"/>
              <a:t>⚙️ Setup (5 Minutes)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891541"/>
            <a:ext cx="2880360" cy="2190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7AE60"/>
                </a:solidFill>
                <a:latin typeface="Segoe UI"/>
              </a:defRPr>
            </a:pPr>
            <a:r>
              <a:rPr dirty="0"/>
              <a:t>1️⃣ Get </a:t>
            </a:r>
            <a:r>
              <a:rPr lang="en-US" dirty="0"/>
              <a:t>Gemini</a:t>
            </a:r>
            <a:r>
              <a:rPr dirty="0"/>
              <a:t> API 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Go to </a:t>
            </a:r>
            <a:r>
              <a:rPr lang="en-US" sz="1350" dirty="0">
                <a:hlinkClick r:id="rId2"/>
              </a:rPr>
              <a:t>https://aistudio.google.com/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Sign up (free evaluation!)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Click 'Get API Keys'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Create new key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lang="en-US" sz="1350" dirty="0"/>
              <a:t>Copy it</a:t>
            </a:r>
            <a:endParaRPr sz="1350" dirty="0"/>
          </a:p>
        </p:txBody>
      </p:sp>
      <p:sp>
        <p:nvSpPr>
          <p:cNvPr id="6" name="TextBox 5"/>
          <p:cNvSpPr txBox="1"/>
          <p:nvPr/>
        </p:nvSpPr>
        <p:spPr>
          <a:xfrm>
            <a:off x="4638101" y="891540"/>
            <a:ext cx="3255485" cy="3259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67E22"/>
                </a:solidFill>
                <a:latin typeface="Segoe UI"/>
              </a:defRPr>
            </a:pPr>
            <a:r>
              <a:rPr dirty="0"/>
              <a:t>2️⃣ Fork </a:t>
            </a:r>
            <a:r>
              <a:rPr dirty="0" err="1"/>
              <a:t>Replit</a:t>
            </a:r>
            <a:r>
              <a:rPr dirty="0"/>
              <a:t> Project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Click:</a:t>
            </a:r>
            <a:r>
              <a:rPr lang="en-US" sz="1350" dirty="0"/>
              <a:t> </a:t>
            </a:r>
            <a:r>
              <a:rPr lang="en-US" sz="1350" dirty="0">
                <a:hlinkClick r:id="rId3"/>
              </a:rPr>
              <a:t>https://replit.com/@guscavanaugh/basicloanadvisoragent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Create account &amp; 'Remix'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Add Secret: </a:t>
            </a:r>
            <a:r>
              <a:rPr lang="en-US" sz="1350" dirty="0"/>
              <a:t>GOOGLE</a:t>
            </a:r>
            <a:r>
              <a:rPr sz="1350" dirty="0"/>
              <a:t>_API_KEY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Paste your API 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lang="en-US" sz="1350" dirty="0"/>
              <a:t>Open ”Workflows”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lang="en-US" sz="1350" dirty="0"/>
              <a:t>Hit the STOP button. Then PLAY </a:t>
            </a:r>
            <a:r>
              <a:rPr sz="1350" dirty="0"/>
              <a:t>🚀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lang="en-US" sz="1350" dirty="0">
                <a:hlinkClick r:id="rId4"/>
              </a:rPr>
              <a:t>https://</a:t>
            </a:r>
            <a:r>
              <a:rPr lang="en-US" sz="1350" dirty="0" err="1">
                <a:hlinkClick r:id="rId4"/>
              </a:rPr>
              <a:t>github.com</a:t>
            </a:r>
            <a:r>
              <a:rPr lang="en-US" sz="1350" dirty="0">
                <a:hlinkClick r:id="rId4"/>
              </a:rPr>
              <a:t>/Gcav66/</a:t>
            </a:r>
            <a:r>
              <a:rPr lang="en-US" sz="1350" dirty="0" err="1">
                <a:hlinkClick r:id="rId4"/>
              </a:rPr>
              <a:t>basic_loan_advisor_agent</a:t>
            </a:r>
            <a:endParaRPr sz="1350" dirty="0"/>
          </a:p>
        </p:txBody>
      </p:sp>
      <p:sp>
        <p:nvSpPr>
          <p:cNvPr id="7" name="TextBox 6"/>
          <p:cNvSpPr txBox="1"/>
          <p:nvPr/>
        </p:nvSpPr>
        <p:spPr>
          <a:xfrm>
            <a:off x="2103040" y="4594860"/>
            <a:ext cx="5006500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498DB"/>
                </a:solidFill>
                <a:latin typeface="Segoe UI"/>
              </a:defRPr>
            </a:pPr>
            <a:r>
              <a:rPr sz="1350"/>
              <a:t>💡 Links in chat! Takes ~2 minutes. Raise hand if you need help.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1485900" y="1028700"/>
            <a:ext cx="1511952" cy="1477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C8DCEB"/>
                </a:solidFill>
                <a:latin typeface="Segoe UI"/>
              </a:defRPr>
            </a:pPr>
            <a:r>
              <a:rPr sz="9000"/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97446" y="2194560"/>
            <a:ext cx="4716356" cy="7848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FFFFFF"/>
                </a:solidFill>
                <a:latin typeface="Segoe UI"/>
              </a:defRPr>
            </a:pPr>
            <a:r>
              <a:rPr sz="4500" dirty="0"/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1810" y="3017520"/>
            <a:ext cx="548740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ECF0F1"/>
                </a:solidFill>
                <a:latin typeface="Segoe UI"/>
              </a:defRPr>
            </a:pPr>
            <a:r>
              <a:rPr dirty="0"/>
              <a:t>Why you're here to build, not just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/>
          <p:cNvSpPr/>
          <p:nvPr/>
        </p:nvSpPr>
        <p:spPr>
          <a:xfrm>
            <a:off x="1143000" y="0"/>
            <a:ext cx="205740" cy="51435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/>
          <p:cNvSpPr txBox="1"/>
          <p:nvPr/>
        </p:nvSpPr>
        <p:spPr>
          <a:xfrm>
            <a:off x="1691640" y="342900"/>
            <a:ext cx="452078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980B9"/>
                </a:solidFill>
                <a:latin typeface="Segoe UI"/>
              </a:defRPr>
            </a:pPr>
            <a:r>
              <a:rPr sz="3000"/>
              <a:t>The Challenges Are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097280"/>
            <a:ext cx="66903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3000" dirty="0"/>
              <a:t>Heightened competition in every market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lang="en-US" sz="3000" dirty="0"/>
              <a:t>War, e</a:t>
            </a:r>
            <a:r>
              <a:rPr sz="3000" dirty="0"/>
              <a:t>conomic uncertainty and </a:t>
            </a:r>
            <a:r>
              <a:rPr lang="en-US" sz="3000" dirty="0"/>
              <a:t>i</a:t>
            </a:r>
            <a:r>
              <a:rPr sz="3000" dirty="0"/>
              <a:t>nflation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3000" dirty="0"/>
              <a:t>Technology changing faster than ever</a:t>
            </a:r>
            <a:endParaRPr lang="en-US" sz="3000" dirty="0"/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lang="en-US" sz="3000" dirty="0"/>
              <a:t>Expectations for instant results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endParaRPr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6F3629-3565-60BA-815B-9667C7200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1F8F59-D846-E481-864B-8CC45B232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079118"/>
            <a:ext cx="8178799" cy="2985262"/>
          </a:xfrm>
          <a:prstGeom prst="rect">
            <a:avLst/>
          </a:prstGeom>
          <a:ln>
            <a:noFill/>
          </a:ln>
        </p:spPr>
      </p:pic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11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332305-2309-A26A-E925-2637F6C4C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223477" y="1768"/>
            <a:ext cx="1407490" cy="1324506"/>
            <a:chOff x="-648769" y="2358"/>
            <a:chExt cx="1876653" cy="1766008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052897" y="4525250"/>
            <a:ext cx="484026" cy="484026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7577" y="4290831"/>
            <a:ext cx="1696473" cy="852668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Google Shape;278;g3c651e42f09_0_15" title="Screenshot 2026-02-07 at 8.28.47 AM.png">
            <a:extLst>
              <a:ext uri="{FF2B5EF4-FFF2-40B4-BE49-F238E27FC236}">
                <a16:creationId xmlns:a16="http://schemas.microsoft.com/office/drawing/2014/main" id="{12B8F25A-633E-5D2D-F85C-9631C1C31CB3}"/>
              </a:ext>
            </a:extLst>
          </p:cNvPr>
          <p:cNvPicPr preferRelativeResize="0"/>
          <p:nvPr/>
        </p:nvPicPr>
        <p:blipFill rotWithShape="1">
          <a:blip r:embed="rId2"/>
          <a:stretch/>
        </p:blipFill>
        <p:spPr>
          <a:xfrm>
            <a:off x="1544246" y="482600"/>
            <a:ext cx="6055508" cy="4178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75114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CE92EB-FEFF-EBF2-8898-A15D20DDF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oogle Shape;285;g3c651e42f09_0_7" title="Screenshot 2026-02-07 at 8.28.03 AM.png">
            <a:extLst>
              <a:ext uri="{FF2B5EF4-FFF2-40B4-BE49-F238E27FC236}">
                <a16:creationId xmlns:a16="http://schemas.microsoft.com/office/drawing/2014/main" id="{22F989B1-1333-426C-CCFE-C6AA2094EECD}"/>
              </a:ext>
            </a:extLst>
          </p:cNvPr>
          <p:cNvPicPr preferRelativeResize="0"/>
          <p:nvPr/>
        </p:nvPicPr>
        <p:blipFill rotWithShape="1">
          <a:blip r:embed="rId2"/>
          <a:stretch/>
        </p:blipFill>
        <p:spPr>
          <a:xfrm>
            <a:off x="2644760" y="482600"/>
            <a:ext cx="3854480" cy="41783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814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F7E259-504A-7320-5E87-A46258418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C57C43-0D73-DE28-C490-DEEA46121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547496"/>
            <a:ext cx="8178799" cy="4048506"/>
          </a:xfrm>
          <a:prstGeom prst="rect">
            <a:avLst/>
          </a:prstGeom>
          <a:ln>
            <a:noFill/>
          </a:ln>
        </p:spPr>
      </p:pic>
      <p:sp>
        <p:nvSpPr>
          <p:cNvPr id="37" name="Isosceles Triangle 36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57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C57B92-2195-408F-183B-C9D280598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C83A5C14-ED91-4CD1-809E-D29FF97C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42" name="Freeform: Shape 1032">
            <a:extLst>
              <a:ext uri="{FF2B5EF4-FFF2-40B4-BE49-F238E27FC236}">
                <a16:creationId xmlns:a16="http://schemas.microsoft.com/office/drawing/2014/main" id="{56065185-5C34-4F86-AA96-AA4D065B0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5818" y="0"/>
            <a:ext cx="7472363" cy="51435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01600" sx="102000" sy="102000" algn="ctr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 descr="The Moltbook website displayed on a computer screen, with the text &quot;A Social Network for AI Agents.&quot;">
            <a:extLst>
              <a:ext uri="{FF2B5EF4-FFF2-40B4-BE49-F238E27FC236}">
                <a16:creationId xmlns:a16="http://schemas.microsoft.com/office/drawing/2014/main" id="{ECDD5138-64F7-7260-FC97-C9F2EACF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2" r="1" b="766"/>
          <a:stretch>
            <a:fillRect/>
          </a:stretch>
        </p:blipFill>
        <p:spPr bwMode="auto">
          <a:xfrm>
            <a:off x="835819" y="10"/>
            <a:ext cx="7472362" cy="5143490"/>
          </a:xfrm>
          <a:custGeom>
            <a:avLst/>
            <a:gdLst/>
            <a:ahLst/>
            <a:cxnLst/>
            <a:rect l="l" t="t" r="r" b="b"/>
            <a:pathLst>
              <a:path w="9948672" h="6858000">
                <a:moveTo>
                  <a:pt x="1593452" y="0"/>
                </a:moveTo>
                <a:lnTo>
                  <a:pt x="8355220" y="0"/>
                </a:lnTo>
                <a:lnTo>
                  <a:pt x="8491722" y="130333"/>
                </a:lnTo>
                <a:cubicBezTo>
                  <a:pt x="9391900" y="1031820"/>
                  <a:pt x="9948672" y="2277214"/>
                  <a:pt x="9948672" y="3652838"/>
                </a:cubicBezTo>
                <a:cubicBezTo>
                  <a:pt x="9948672" y="4856509"/>
                  <a:pt x="9522393" y="5960473"/>
                  <a:pt x="8812775" y="6821583"/>
                </a:cubicBezTo>
                <a:lnTo>
                  <a:pt x="8781276" y="6858000"/>
                </a:lnTo>
                <a:lnTo>
                  <a:pt x="1167397" y="6858000"/>
                </a:lnTo>
                <a:lnTo>
                  <a:pt x="1135897" y="6821583"/>
                </a:lnTo>
                <a:cubicBezTo>
                  <a:pt x="426279" y="5960473"/>
                  <a:pt x="0" y="4856509"/>
                  <a:pt x="0" y="3652838"/>
                </a:cubicBezTo>
                <a:cubicBezTo>
                  <a:pt x="0" y="2277214"/>
                  <a:pt x="556772" y="1031820"/>
                  <a:pt x="1456950" y="13033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5262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DCD8D8-7AFB-93C9-88F9-F189302E3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Google Shape;290;g3c651e42f09_0_0" title="Screenshot 2026-02-07 at 5.52.09 AM.png">
            <a:extLst>
              <a:ext uri="{FF2B5EF4-FFF2-40B4-BE49-F238E27FC236}">
                <a16:creationId xmlns:a16="http://schemas.microsoft.com/office/drawing/2014/main" id="{3D12D7CA-9BC0-DF4B-21B0-18C97A03302A}"/>
              </a:ext>
            </a:extLst>
          </p:cNvPr>
          <p:cNvPicPr preferRelativeResize="0"/>
          <p:nvPr/>
        </p:nvPicPr>
        <p:blipFill rotWithShape="1">
          <a:blip r:embed="rId2"/>
          <a:stretch/>
        </p:blipFill>
        <p:spPr>
          <a:xfrm>
            <a:off x="2301184" y="482600"/>
            <a:ext cx="4541631" cy="4178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396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7EA93-05C3-8B4C-3F73-40B90EC6A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oogle Shape;295;g3c651e42f09_0_22" title="Screenshot 2026-02-07 at 8.33.37 AM.png">
            <a:extLst>
              <a:ext uri="{FF2B5EF4-FFF2-40B4-BE49-F238E27FC236}">
                <a16:creationId xmlns:a16="http://schemas.microsoft.com/office/drawing/2014/main" id="{C5557472-1F3E-E78D-76B9-5C101E018849}"/>
              </a:ext>
            </a:extLst>
          </p:cNvPr>
          <p:cNvPicPr preferRelativeResize="0"/>
          <p:nvPr/>
        </p:nvPicPr>
        <p:blipFill rotWithShape="1">
          <a:blip r:embed="rId2"/>
          <a:stretch/>
        </p:blipFill>
        <p:spPr>
          <a:xfrm>
            <a:off x="1944139" y="482600"/>
            <a:ext cx="5255723" cy="41783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89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E9EB5-BDB4-245A-4217-0F0347DEC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282117" y="-190252"/>
            <a:ext cx="1370728" cy="1032741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668730" y="316609"/>
            <a:ext cx="484026" cy="484026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7532611" y="491355"/>
            <a:ext cx="515604" cy="515604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7017482" y="0"/>
            <a:ext cx="2126518" cy="111062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982258" y="4586625"/>
            <a:ext cx="1120884" cy="556875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Google Shape;301;g3c651e42f09_0_29" title="Screenshot 2026-02-07 at 5.36.44 PM.png">
            <a:extLst>
              <a:ext uri="{FF2B5EF4-FFF2-40B4-BE49-F238E27FC236}">
                <a16:creationId xmlns:a16="http://schemas.microsoft.com/office/drawing/2014/main" id="{4E30799D-29AF-6882-3B59-7002C55B5E19}"/>
              </a:ext>
            </a:extLst>
          </p:cNvPr>
          <p:cNvPicPr preferRelativeResize="0"/>
          <p:nvPr/>
        </p:nvPicPr>
        <p:blipFill rotWithShape="1">
          <a:blip r:embed="rId2"/>
          <a:stretch/>
        </p:blipFill>
        <p:spPr>
          <a:xfrm>
            <a:off x="482600" y="833756"/>
            <a:ext cx="8178799" cy="34759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703060" y="4839857"/>
            <a:ext cx="611177" cy="303643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32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/>
          <p:cNvSpPr/>
          <p:nvPr/>
        </p:nvSpPr>
        <p:spPr>
          <a:xfrm>
            <a:off x="1360070" y="0"/>
            <a:ext cx="205740" cy="51435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/>
          <p:cNvSpPr txBox="1"/>
          <p:nvPr/>
        </p:nvSpPr>
        <p:spPr>
          <a:xfrm>
            <a:off x="1691640" y="342900"/>
            <a:ext cx="481574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980B9"/>
                </a:solidFill>
                <a:latin typeface="Segoe UI"/>
              </a:defRPr>
            </a:pPr>
            <a:r>
              <a:rPr sz="3000" dirty="0"/>
              <a:t>But So Is 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39" y="1097281"/>
            <a:ext cx="7104017" cy="2516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2700" b="1" dirty="0"/>
              <a:t>Technology</a:t>
            </a:r>
            <a:r>
              <a:rPr sz="2700" dirty="0"/>
              <a:t> is no longer owned by </a:t>
            </a:r>
            <a:r>
              <a:rPr sz="2700" b="1" dirty="0"/>
              <a:t>IT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2700" b="1" dirty="0"/>
              <a:t>Analysis</a:t>
            </a:r>
            <a:r>
              <a:rPr sz="2700" dirty="0"/>
              <a:t> is no longer owned by </a:t>
            </a:r>
            <a:r>
              <a:rPr sz="2700" b="1" dirty="0"/>
              <a:t>Quants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2700" b="1" dirty="0"/>
              <a:t>Design</a:t>
            </a:r>
            <a:r>
              <a:rPr sz="2700" dirty="0"/>
              <a:t> is no longer owned by </a:t>
            </a:r>
            <a:r>
              <a:rPr sz="2700" b="1" dirty="0"/>
              <a:t>Designers</a:t>
            </a:r>
          </a:p>
          <a:p>
            <a:pPr marL="457200" indent="-457200">
              <a:spcBef>
                <a:spcPts val="900"/>
              </a:spcBef>
              <a:buFont typeface="Arial" panose="020B0604020202020204" pitchFamily="34" charset="0"/>
              <a:buChar char="•"/>
              <a:defRPr sz="2400">
                <a:solidFill>
                  <a:srgbClr val="2C3E50"/>
                </a:solidFill>
                <a:latin typeface="Segoe UI"/>
              </a:defRPr>
            </a:pPr>
            <a:r>
              <a:rPr sz="2700" b="1" dirty="0"/>
              <a:t>Applications</a:t>
            </a:r>
            <a:r>
              <a:rPr sz="2700" dirty="0"/>
              <a:t> are no longer owned by </a:t>
            </a:r>
            <a:r>
              <a:rPr sz="2700" b="1" dirty="0"/>
              <a:t>Developers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51435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036979-4BB9-E76E-2102-D9C5279DAB6B}"/>
              </a:ext>
            </a:extLst>
          </p:cNvPr>
          <p:cNvSpPr txBox="1"/>
          <p:nvPr/>
        </p:nvSpPr>
        <p:spPr>
          <a:xfrm>
            <a:off x="515125" y="865179"/>
            <a:ext cx="2400300" cy="33458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i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NYT August: AI On Every Desk</a:t>
            </a:r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1841609"/>
            <a:ext cx="3062575" cy="3062575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8B3AA9-2080-D9B2-4F70-9DDDDA5D9B1F}"/>
              </a:ext>
            </a:extLst>
          </p:cNvPr>
          <p:cNvSpPr txBox="1"/>
          <p:nvPr/>
        </p:nvSpPr>
        <p:spPr>
          <a:xfrm>
            <a:off x="3335481" y="443508"/>
            <a:ext cx="5179868" cy="41892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800" b="0" i="0" dirty="0">
                <a:effectLst/>
              </a:rPr>
              <a:t>''They will have as much stored knowledge of what you know, what you've said, what you've done than any friend would have the patience to learn,”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0" i="0" dirty="0">
                <a:effectLst/>
              </a:rPr>
              <a:t>– Bill Gates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296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29EB6-BBDE-B6CB-DE18-BB76DB4EA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89575E1-3389-451A-A5F7-27854C25C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3219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3CCC5C-D88E-40FB-B30B-23DCDBD01D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3"/>
            <a:ext cx="3125451" cy="51435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DEA61E-3BD7-A1B4-4344-CC4F09F99CBC}"/>
              </a:ext>
            </a:extLst>
          </p:cNvPr>
          <p:cNvSpPr txBox="1"/>
          <p:nvPr/>
        </p:nvSpPr>
        <p:spPr>
          <a:xfrm>
            <a:off x="515125" y="443508"/>
            <a:ext cx="2400300" cy="41892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b="1" i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NYT JAN: DOES EVERYONE NEED TO LEARN TO CODE?</a:t>
            </a:r>
          </a:p>
        </p:txBody>
      </p:sp>
      <p:sp>
        <p:nvSpPr>
          <p:cNvPr id="13" name="Arc 12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1841609"/>
            <a:ext cx="3062575" cy="3062575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45150-67D6-BEA0-DF83-69C2C8D46E6B}"/>
              </a:ext>
            </a:extLst>
          </p:cNvPr>
          <p:cNvSpPr txBox="1"/>
          <p:nvPr/>
        </p:nvSpPr>
        <p:spPr>
          <a:xfrm>
            <a:off x="3335481" y="443508"/>
            <a:ext cx="5179868" cy="41892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4000" b="0" i="0" dirty="0">
                <a:effectLst/>
              </a:rPr>
              <a:t>“Hiring a programmer to modify existing commercial software to suit your business needs would probably prove to be more effective in terms of costs"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198180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64467A-AD02-EDC3-8836-BB3FCF8BE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11" name="Rectangle 4110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EC093EE-5EE9-7E53-7B33-30EBABE27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34982"/>
          <a:stretch>
            <a:fillRect/>
          </a:stretch>
        </p:blipFill>
        <p:spPr bwMode="auto">
          <a:xfrm>
            <a:off x="241298" y="417891"/>
            <a:ext cx="4251513" cy="4307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PERSONAL COMPUTERS; DOES EVERYONE NEED TO LEARN PROGRAMMING?">
            <a:extLst>
              <a:ext uri="{FF2B5EF4-FFF2-40B4-BE49-F238E27FC236}">
                <a16:creationId xmlns:a16="http://schemas.microsoft.com/office/drawing/2014/main" id="{35DC3651-9277-E26D-B3A5-8DC676E05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24409"/>
          <a:stretch>
            <a:fillRect/>
          </a:stretch>
        </p:blipFill>
        <p:spPr bwMode="auto">
          <a:xfrm>
            <a:off x="4646531" y="417891"/>
            <a:ext cx="4256170" cy="4307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0773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6A8A8-3DE1-776D-6669-1728489E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77ECC-AF08-A366-7409-B55EE1A033BB}"/>
              </a:ext>
            </a:extLst>
          </p:cNvPr>
          <p:cNvSpPr/>
          <p:nvPr/>
        </p:nvSpPr>
        <p:spPr>
          <a:xfrm>
            <a:off x="1143000" y="231354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D57F64-1449-49DF-1084-366174EF1073}"/>
              </a:ext>
            </a:extLst>
          </p:cNvPr>
          <p:cNvSpPr/>
          <p:nvPr/>
        </p:nvSpPr>
        <p:spPr>
          <a:xfrm>
            <a:off x="1143000" y="0"/>
            <a:ext cx="205740" cy="51435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B55873-2434-99F5-9DBB-7EE7E294F1C9}"/>
              </a:ext>
            </a:extLst>
          </p:cNvPr>
          <p:cNvSpPr txBox="1"/>
          <p:nvPr/>
        </p:nvSpPr>
        <p:spPr>
          <a:xfrm>
            <a:off x="1673876" y="1702520"/>
            <a:ext cx="54264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980B9"/>
                </a:solidFill>
                <a:latin typeface="Segoe UI"/>
              </a:defRPr>
            </a:pPr>
            <a:r>
              <a:rPr lang="en-US" sz="3000" dirty="0"/>
              <a:t>Every SME is now a developer, designer, analyst, builder</a:t>
            </a:r>
            <a:endParaRPr sz="3000" dirty="0"/>
          </a:p>
        </p:txBody>
      </p:sp>
    </p:spTree>
    <p:extLst>
      <p:ext uri="{BB962C8B-B14F-4D97-AF65-F5344CB8AC3E}">
        <p14:creationId xmlns:p14="http://schemas.microsoft.com/office/powerpoint/2010/main" val="1483871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Building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conversational mortgage advisor that looks up rates from a governed rate sheet and calculates monthly payments using the standard amortization formula. The LLM never guesses numbers.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4231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Lookup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85800" y="3520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today's rates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CSV rate sheet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83280" y="219456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4231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204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Calculator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3520440" y="3520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amortization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— exact math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17920" y="219456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4231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5508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3520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with</a:t>
            </a:r>
            <a:endParaRPr lang="en-US" sz="13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powering the conversation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A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F0EAD99-54F6-158A-680A-009F052E53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-29091"/>
            <a:ext cx="9482535" cy="5172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B5F908-5C93-C3AF-8B89-4BB44FB79C17}"/>
              </a:ext>
            </a:extLst>
          </p:cNvPr>
          <p:cNvSpPr txBox="1"/>
          <p:nvPr/>
        </p:nvSpPr>
        <p:spPr>
          <a:xfrm>
            <a:off x="283029" y="4774168"/>
            <a:ext cx="7456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hugobowne.substack.com</a:t>
            </a:r>
            <a:r>
              <a:rPr lang="en-US" dirty="0"/>
              <a:t>/p/how-to-build-a-general-purpose-ai</a:t>
            </a:r>
          </a:p>
        </p:txBody>
      </p:sp>
    </p:spTree>
    <p:extLst>
      <p:ext uri="{BB962C8B-B14F-4D97-AF65-F5344CB8AC3E}">
        <p14:creationId xmlns:p14="http://schemas.microsoft.com/office/powerpoint/2010/main" val="1382113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8F63B-F7EE-8A0D-9DD7-76635E9E6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882A21-CD4A-567E-969E-60CD10A9A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429204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B76297-E1C0-3354-9B67-D48E8543AE01}"/>
              </a:ext>
            </a:extLst>
          </p:cNvPr>
          <p:cNvSpPr txBox="1"/>
          <p:nvPr/>
        </p:nvSpPr>
        <p:spPr>
          <a:xfrm>
            <a:off x="283029" y="4774168"/>
            <a:ext cx="7456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hugobowne.substack.com</a:t>
            </a:r>
            <a:r>
              <a:rPr lang="en-US" dirty="0"/>
              <a:t>/p/how-to-build-a-general-purpose-ai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04C1BDC-657E-5A49-DFFB-D5FE39992B12}"/>
              </a:ext>
            </a:extLst>
          </p:cNvPr>
          <p:cNvSpPr/>
          <p:nvPr/>
        </p:nvSpPr>
        <p:spPr>
          <a:xfrm>
            <a:off x="4495800" y="1153886"/>
            <a:ext cx="4648200" cy="2808514"/>
          </a:xfrm>
          <a:prstGeom prst="rect">
            <a:avLst/>
          </a:prstGeom>
          <a:solidFill>
            <a:srgbClr val="F3EE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338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 Pattern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handles the conversation.</a:t>
            </a:r>
            <a:endParaRPr lang="en-US" sz="18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8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handle the data and math.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2194560"/>
            <a:ext cx="173736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219456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2194560"/>
            <a:ext cx="1737360" cy="109728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219456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2194560"/>
            <a:ext cx="1737360" cy="1097280"/>
          </a:xfrm>
          <a:prstGeom prst="rect">
            <a:avLst/>
          </a:prstGeom>
          <a:solidFill>
            <a:srgbClr val="0891B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0" y="219456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194560"/>
            <a:ext cx="1737360" cy="109728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09360" y="219456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57400" y="274320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069080" y="274320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080760" y="2743200"/>
            <a:ext cx="4572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3657600"/>
            <a:ext cx="80467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73152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4400" y="370332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The LLM decides what to do. The tools ensure how it's done is governed and repeatable. The LLM never sees stale rates. It never approximates a payment.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Tools Instead of Just the LLM?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137160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Data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600200" y="173736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change daily. The LLM's training data is stale. A tool reads from the institution's source of truth.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743200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60604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Math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600200" y="297180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amortization formula is exact. Even small rounding errors are unacceptable in a lending context.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7490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977640"/>
            <a:ext cx="548640" cy="5486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600200" y="384048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Compliance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600200" y="420624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Truth-in-Lending (TILA) requires specific calculations. Policy decisions belong in code, not in a probability distribution.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221CD8-BD5A-C0FA-B1B7-3D19BBBE8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4150C0-AA16-8B62-705E-87DD9E39EE6E}"/>
              </a:ext>
            </a:extLst>
          </p:cNvPr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4A4820-D6DD-A5F5-51FC-0E9D73A9BA2A}"/>
              </a:ext>
            </a:extLst>
          </p:cNvPr>
          <p:cNvSpPr txBox="1"/>
          <p:nvPr/>
        </p:nvSpPr>
        <p:spPr>
          <a:xfrm>
            <a:off x="1691640" y="274321"/>
            <a:ext cx="3538148" cy="5078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980B9"/>
                </a:solidFill>
                <a:latin typeface="Segoe UI"/>
              </a:defRPr>
            </a:pPr>
            <a:r>
              <a:rPr sz="2700" dirty="0"/>
              <a:t>⚙️ Setup (5 Minutes)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9C75A-8671-AD2C-7C38-5444114903DB}"/>
              </a:ext>
            </a:extLst>
          </p:cNvPr>
          <p:cNvSpPr txBox="1"/>
          <p:nvPr/>
        </p:nvSpPr>
        <p:spPr>
          <a:xfrm>
            <a:off x="1691640" y="891541"/>
            <a:ext cx="2880360" cy="2190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7AE60"/>
                </a:solidFill>
                <a:latin typeface="Segoe UI"/>
              </a:defRPr>
            </a:pPr>
            <a:r>
              <a:rPr dirty="0"/>
              <a:t>1️⃣ Get </a:t>
            </a:r>
            <a:r>
              <a:rPr lang="en-US" dirty="0"/>
              <a:t>Gemini</a:t>
            </a:r>
            <a:r>
              <a:rPr dirty="0"/>
              <a:t> API 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Go to </a:t>
            </a:r>
            <a:r>
              <a:rPr lang="en-US" sz="1350" dirty="0">
                <a:hlinkClick r:id="rId2"/>
              </a:rPr>
              <a:t>https://aistudio.google.com/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Sign up (free evaluation!)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Click 'Get API Keys'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Create new 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Copy it (won't see again!)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5A1D5-DDEB-0248-2105-E59762C267AD}"/>
              </a:ext>
            </a:extLst>
          </p:cNvPr>
          <p:cNvSpPr txBox="1"/>
          <p:nvPr/>
        </p:nvSpPr>
        <p:spPr>
          <a:xfrm>
            <a:off x="4638101" y="891540"/>
            <a:ext cx="3255485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67E22"/>
                </a:solidFill>
                <a:latin typeface="Segoe UI"/>
              </a:defRPr>
            </a:pPr>
            <a:r>
              <a:rPr dirty="0"/>
              <a:t>2️⃣ Fork </a:t>
            </a:r>
            <a:r>
              <a:rPr dirty="0" err="1"/>
              <a:t>Replit</a:t>
            </a:r>
            <a:r>
              <a:rPr dirty="0"/>
              <a:t> Project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Click:</a:t>
            </a:r>
            <a:r>
              <a:rPr lang="en-US" sz="1350" dirty="0"/>
              <a:t> </a:t>
            </a:r>
            <a:r>
              <a:rPr lang="en-US" sz="1350" dirty="0">
                <a:hlinkClick r:id="rId3"/>
              </a:rPr>
              <a:t>https://replit.com/@guscavanaugh/basicloanadvisoragent</a:t>
            </a:r>
            <a:endParaRPr lang="en-US" sz="1350" dirty="0"/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Create account &amp; 'Remix'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Add Secret: </a:t>
            </a:r>
            <a:r>
              <a:rPr lang="en-US" sz="1350" dirty="0"/>
              <a:t>GOOGLE</a:t>
            </a:r>
            <a:r>
              <a:rPr sz="1350" dirty="0"/>
              <a:t>_API_KEY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Paste your API key</a:t>
            </a:r>
          </a:p>
          <a:p>
            <a:pPr>
              <a:spcBef>
                <a:spcPts val="450"/>
              </a:spcBef>
              <a:defRPr sz="1800">
                <a:solidFill>
                  <a:srgbClr val="2C3E50"/>
                </a:solidFill>
                <a:latin typeface="Segoe UI"/>
              </a:defRPr>
            </a:pPr>
            <a:r>
              <a:rPr sz="1350" dirty="0"/>
              <a:t>Click 'Run' button! 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C58CA4-ADA2-6B64-35AD-403E78217B12}"/>
              </a:ext>
            </a:extLst>
          </p:cNvPr>
          <p:cNvSpPr txBox="1"/>
          <p:nvPr/>
        </p:nvSpPr>
        <p:spPr>
          <a:xfrm>
            <a:off x="2103040" y="4594860"/>
            <a:ext cx="5006500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3498DB"/>
                </a:solidFill>
                <a:latin typeface="Segoe UI"/>
              </a:defRPr>
            </a:pPr>
            <a:r>
              <a:rPr sz="1350"/>
              <a:t>💡 Links in chat! Takes ~2 minutes. Raise hand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18129180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9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080D1D-88D6-C51C-9675-9C6AF0DE8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00CA5B-E6C5-20E9-A9AF-0FC2C2D8F2FF}"/>
              </a:ext>
            </a:extLst>
          </p:cNvPr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1: Rate Sheet Lookup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A798BA2-0953-8DA4-338F-819BF81D27FD}"/>
              </a:ext>
            </a:extLst>
          </p:cNvPr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C4C3F4-EFFD-0002-903B-9798B5F9DD99}"/>
              </a:ext>
            </a:extLst>
          </p:cNvPr>
          <p:cNvSpPr/>
          <p:nvPr/>
        </p:nvSpPr>
        <p:spPr>
          <a:xfrm>
            <a:off x="731520" y="123444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2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get_rate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(loan_type, term_years, credit_tier):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"""Looks up the current interest rate from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the institution's rate sheet."""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 = pd.read_csv(CSV_PATH)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 = df[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(df["loan_type"] == loan_type)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 (df["term_years"] == term_years)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 (df["credit_tier"] == credit_tier)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{"status": "success", "result": ...}</a:t>
            </a:r>
            <a:endParaRPr lang="en-US" sz="12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A56EBB0-3123-3858-47CD-672A236017C6}"/>
              </a:ext>
            </a:extLst>
          </p:cNvPr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97D2CDB-4687-5E58-7AD1-F989D8B324A8}"/>
              </a:ext>
            </a:extLst>
          </p:cNvPr>
          <p:cNvSpPr/>
          <p:nvPr/>
        </p:nvSpPr>
        <p:spPr>
          <a:xfrm>
            <a:off x="457200" y="40690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9C4E267-7FFD-C615-87AF-119B32A065C5}"/>
              </a:ext>
            </a:extLst>
          </p:cNvPr>
          <p:cNvSpPr/>
          <p:nvPr/>
        </p:nvSpPr>
        <p:spPr>
          <a:xfrm>
            <a:off x="777240" y="4114800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CSV — the institution's source of truth. In production, swap for a database query or API call. The tool interface stays the same.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3229193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4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7C1A23-A162-9529-7F57-F20972F0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58D3354-8F60-31B3-78A7-9FF5296AD766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F56BDC2-6E32-89DB-AEDB-8CCC0039CB41}"/>
              </a:ext>
            </a:extLst>
          </p:cNvPr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90F3B08-99E7-F480-F055-E540C8FE2F1F}"/>
              </a:ext>
            </a:extLst>
          </p:cNvPr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Tools</a:t>
            </a:r>
            <a:endParaRPr lang="en-US" sz="4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AB972D-400C-45C6-F27B-B1A42CAEA870}"/>
              </a:ext>
            </a:extLst>
          </p:cNvPr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Sheet Lookup  +  Amortization Calculator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619693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1: Rate Sheet Lookup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2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get_rate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(loan_type, term_years, credit_tier):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"""Looks up the current interest rate from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the institution's rate sheet."""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 = pd.read_csv(CSV_PATH)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match = df[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(df["loan_type"] == loan_type)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 (df["term_years"] == term_years)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&amp; (df["credit_tier"] == credit_tier)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{"status": "success", "result": ...}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40690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4114800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CSV — the institution's source of truth. In production, swap for a database query or API call. The tool interface stays the same.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Rate Sheet (rate_sheet.csv)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7315200" cy="279806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loan_type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term_years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rate_pct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max_ltv_pct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jumbo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42976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rows covering 4 loan types  x  2 terms  x  3 credit tiers. Simple enough to teach with, realistic enough to demo.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2: Monthly Payment Calculator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 =  P  ×  [ r(1+r)ⁿ ]  /  [ (1+r)ⁿ - 1 ]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principal     r = monthly rate     n = total payments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73736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46888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2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calculate_monthly_payment</a:t>
            </a: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(loan_amount, annual_rate_pct, term_years):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monthly_rate = (annual_rate_pct / 100) / 12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num_payments = term_years * 12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numerator = monthly_rate * (1 + monthly_rate) ** num_payments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denominator = (1 + monthly_rate) ** num_payments - 1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monthly_payment = loan_amount * (numerator / denominator)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434340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4343400"/>
            <a:ext cx="73152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4370832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lender uses this formula. Letting the LLM approximate it would introduce variance that's unacceptable under Truth-in-Lending.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Docstrings Are the Tool Schema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genai SDK reads your Python function's docstring and type hints to auto-generate the tool schema the LLM sees.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73152" cy="7772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85623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16712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LLM when to call this tool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73152" cy="777240"/>
          </a:xfrm>
          <a:prstGeom prst="rect">
            <a:avLst/>
          </a:prstGeom>
          <a:solidFill>
            <a:srgbClr val="0F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28163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Args section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12724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the parameter schema — names, types, valid values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70332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73152" cy="7772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8680" y="3776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section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087368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LLM what to expect 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prompt engineering applied to function signatures.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docstrings = more reliable tool calls.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Chaining in Action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594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would my monthly payment be on a $275K conventional loan, 30-year, good credit?"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2011680"/>
            <a:ext cx="13258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747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Decides it needs the rate first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37360" y="2011680"/>
            <a:ext cx="1325880" cy="237744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73736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81051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get_rate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1051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loan_type="conventional"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term_years=30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credit_tier="good"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0" y="2011680"/>
            <a:ext cx="1325880" cy="2377440"/>
          </a:xfrm>
          <a:prstGeom prst="rect">
            <a:avLst/>
          </a:prstGeom>
          <a:solidFill>
            <a:srgbClr val="0891B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27355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returns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7355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 = 6.625%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011680"/>
            <a:ext cx="1325880" cy="237744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66344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73659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calculate_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monthly_payment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3659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loan_amount=275000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rate=6.625, term=30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26480" y="2011680"/>
            <a:ext cx="1325880" cy="2377440"/>
          </a:xfrm>
          <a:prstGeom prst="rect">
            <a:avLst/>
          </a:prstGeom>
          <a:solidFill>
            <a:srgbClr val="0891B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2648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19963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returns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9963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B0D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 = $1,760.86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589520" y="2011680"/>
            <a:ext cx="13258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89520" y="21031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662672" y="251460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summarizes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662672" y="306324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Natural language response</a:t>
            </a:r>
            <a:endParaRPr lang="en-US" sz="10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the user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Streamlit App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google-genai  +  Streamlit  +  Automatic Function Calling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Fits Together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240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UI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state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 history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st.chat_input()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37560" y="1188720"/>
            <a:ext cx="2606040" cy="3291840"/>
          </a:xfrm>
          <a:prstGeom prst="rect">
            <a:avLst/>
          </a:prstGeom>
          <a:solidFill>
            <a:srgbClr val="0F2A4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37560" y="1325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google-genai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520440" y="1965960"/>
            <a:ext cx="2240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genai.Client()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client.chats.create()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chat.send_message()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 function calling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2606040" cy="3291840"/>
          </a:xfrm>
          <a:prstGeom prst="rect">
            <a:avLst/>
          </a:prstGeom>
          <a:solidFill>
            <a:srgbClr val="0891B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0" y="1965960"/>
            <a:ext cx="2240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get_rate()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calculate_monthly_payment()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rate_sheet.csv</a:t>
            </a:r>
            <a:endParaRPr lang="en-US" sz="1300" dirty="0"/>
          </a:p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Pandas filtering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017520" y="2834640"/>
            <a:ext cx="32004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897880" y="2834640"/>
            <a:ext cx="32004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Key Code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 import genai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genai.Client(api_key=...)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 = client.chats.create(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model="gemini-2.5-flash",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config=types.GenerateContentConfig(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system_instruction=SYSTEM_INSTRUCTION,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tools=[get_rate, calculate_monthly_payment],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automatic_function_calling=...,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chat.send_message(user_text)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4480560"/>
            <a:ext cx="822960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4480560"/>
            <a:ext cx="73152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449884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raw Python functions as tools. The SDK handles schema generation, execution, and the response loop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Try It — Demo Prompts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16128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the rate for a 30-year conventional loan with good credit?"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53619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tool call (get_rate)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12140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would my monthly payment be on a $275K conventional loan, 30-year, good credit?"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49631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chaining (get_rate → calculate_monthly_payment)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308152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"Compare 15 vs 30 year payments on a $350K conventional, excellent credit."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45643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chained calls with comparison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31520" y="4041648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about a 20-year FHA loan?"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41655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— not in the rate sheet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Extend the Pattern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1887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Third Tool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463040" y="1508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DTI qualifier — takes income + monthly obligations, computes front-end / back-end ratios, returns pass/fail.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148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Data Source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463040" y="24688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CSV with a Snowflake query, REST API, or database call. The tool interface stays the same.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48640" y="306324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0896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Session Memory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63040" y="3429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genai chat history or ADK sessions to remember user preferences across turns.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40233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16052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06908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Replit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463040" y="43891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project, add your API key as a Secret, hit Run. Share the URL with your team.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https://github.com/Gcav66/</a:t>
            </a:r>
            <a:endParaRPr lang="en-US" sz="16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https://</a:t>
            </a:r>
            <a:r>
              <a:rPr lang="en-US" sz="1600" dirty="0" err="1">
                <a:solidFill>
                  <a:schemeClr val="accent1"/>
                </a:solidFill>
              </a:rPr>
              <a:t>www.linkedin.com</a:t>
            </a:r>
            <a:r>
              <a:rPr lang="en-US" sz="1600" dirty="0">
                <a:solidFill>
                  <a:schemeClr val="accent1"/>
                </a:solidFill>
              </a:rPr>
              <a:t>/in/</a:t>
            </a:r>
            <a:r>
              <a:rPr lang="en-US" sz="1600" dirty="0" err="1">
                <a:solidFill>
                  <a:schemeClr val="accent1"/>
                </a:solidFill>
              </a:rPr>
              <a:t>gustafrcavanaugh</a:t>
            </a:r>
            <a:r>
              <a:rPr lang="en-US" sz="1600" dirty="0"/>
              <a:t>/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available in the loan_advisor_project folder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1608</TotalTime>
  <Words>1726</Words>
  <Application>Microsoft Macintosh PowerPoint</Application>
  <PresentationFormat>On-screen Show (16:9)</PresentationFormat>
  <Paragraphs>289</Paragraphs>
  <Slides>38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 Loan Advisor Agent</dc:title>
  <dc:subject>PptxGenJS Presentation</dc:subject>
  <dc:creator>Gus Cavanaugh</dc:creator>
  <cp:lastModifiedBy>Gus Cavanaugh</cp:lastModifiedBy>
  <cp:revision>4</cp:revision>
  <cp:lastPrinted>2026-04-16T19:23:33Z</cp:lastPrinted>
  <dcterms:created xsi:type="dcterms:W3CDTF">2026-04-15T21:18:49Z</dcterms:created>
  <dcterms:modified xsi:type="dcterms:W3CDTF">2026-04-17T00:23:53Z</dcterms:modified>
</cp:coreProperties>
</file>